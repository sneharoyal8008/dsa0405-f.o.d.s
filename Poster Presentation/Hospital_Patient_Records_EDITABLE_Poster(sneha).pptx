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0972800" cy="1645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4E8C22-DF04-4F0D-A14D-356462C06E3F}" v="1" dt="2026-08-20T03:51:55.4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234" y="-43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neha prasad" userId="e68b3aea901a8d3e" providerId="LiveId" clId="{0591339A-B979-45F2-B339-FA423E273752}"/>
    <pc:docChg chg="modSld">
      <pc:chgData name="sneha prasad" userId="e68b3aea901a8d3e" providerId="LiveId" clId="{0591339A-B979-45F2-B339-FA423E273752}" dt="2026-08-20T03:51:47.868" v="22" actId="255"/>
      <pc:docMkLst>
        <pc:docMk/>
      </pc:docMkLst>
      <pc:sldChg chg="addSp modSp mod">
        <pc:chgData name="sneha prasad" userId="e68b3aea901a8d3e" providerId="LiveId" clId="{0591339A-B979-45F2-B339-FA423E273752}" dt="2026-08-20T03:51:47.868" v="22" actId="255"/>
        <pc:sldMkLst>
          <pc:docMk/>
          <pc:sldMk cId="0" sldId="256"/>
        </pc:sldMkLst>
        <pc:spChg chg="add mod">
          <ac:chgData name="sneha prasad" userId="e68b3aea901a8d3e" providerId="LiveId" clId="{0591339A-B979-45F2-B339-FA423E273752}" dt="2026-08-20T03:51:47.868" v="22" actId="255"/>
          <ac:spMkLst>
            <pc:docMk/>
            <pc:sldMk cId="0" sldId="256"/>
            <ac:spMk id="7" creationId="{44615A80-289E-D196-5FE0-63ACEC05A1A5}"/>
          </ac:spMkLst>
        </pc:spChg>
        <pc:spChg chg="mod">
          <ac:chgData name="sneha prasad" userId="e68b3aea901a8d3e" providerId="LiveId" clId="{0591339A-B979-45F2-B339-FA423E273752}" dt="2026-08-20T03:50:09.275" v="4" actId="1076"/>
          <ac:spMkLst>
            <pc:docMk/>
            <pc:sldMk cId="0" sldId="256"/>
            <ac:spMk id="172" creationId="{00000000-0000-0000-0000-000000000000}"/>
          </ac:spMkLst>
        </pc:spChg>
        <pc:spChg chg="mod">
          <ac:chgData name="sneha prasad" userId="e68b3aea901a8d3e" providerId="LiveId" clId="{0591339A-B979-45F2-B339-FA423E273752}" dt="2026-08-20T03:51:11.728" v="15" actId="1076"/>
          <ac:spMkLst>
            <pc:docMk/>
            <pc:sldMk cId="0" sldId="256"/>
            <ac:spMk id="178" creationId="{68C1EB9D-4C7A-4DE6-6EF6-82EF388920F0}"/>
          </ac:spMkLst>
        </pc:spChg>
        <pc:picChg chg="mod">
          <ac:chgData name="sneha prasad" userId="e68b3aea901a8d3e" providerId="LiveId" clId="{0591339A-B979-45F2-B339-FA423E273752}" dt="2026-08-20T03:48:19.557" v="0" actId="1076"/>
          <ac:picMkLst>
            <pc:docMk/>
            <pc:sldMk cId="0" sldId="256"/>
            <ac:picMk id="175" creationId="{E0D05A3E-868D-D6D6-707C-2D897C6C7FDF}"/>
          </ac:picMkLst>
        </pc:picChg>
        <pc:picChg chg="mod">
          <ac:chgData name="sneha prasad" userId="e68b3aea901a8d3e" providerId="LiveId" clId="{0591339A-B979-45F2-B339-FA423E273752}" dt="2026-08-20T03:48:28.019" v="2" actId="14100"/>
          <ac:picMkLst>
            <pc:docMk/>
            <pc:sldMk cId="0" sldId="256"/>
            <ac:picMk id="177" creationId="{C88B4ADE-5E9D-FA46-160C-21CE5B282F62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800"/>
            </a:pPr>
            <a:r>
              <a:rPr lang="en-IN"/>
              <a:t>Age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2067AE"/>
            </a:solidFill>
          </c:spPr>
          <c:invertIfNegative val="1"/>
          <c:cat>
            <c:strRef>
              <c:f>Sheet1!$A$2:$A$10</c:f>
              <c:strCache>
                <c:ptCount val="9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8</c:v>
                </c:pt>
                <c:pt idx="2">
                  <c:v>25</c:v>
                </c:pt>
                <c:pt idx="3">
                  <c:v>70</c:v>
                </c:pt>
                <c:pt idx="4">
                  <c:v>115</c:v>
                </c:pt>
                <c:pt idx="5">
                  <c:v>140</c:v>
                </c:pt>
                <c:pt idx="6">
                  <c:v>80</c:v>
                </c:pt>
                <c:pt idx="7">
                  <c:v>25</c:v>
                </c:pt>
                <c:pt idx="8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831-43A8-A32B-B767901972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5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800"/>
            </a:pPr>
            <a:r>
              <a:rPr lang="en-IN"/>
              <a:t>Length of Stay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2067AE"/>
            </a:solidFill>
          </c:spPr>
          <c:invertIfNegative val="1"/>
          <c:cat>
            <c:strRef>
              <c:f>Sheet1!$A$2:$A$12</c:f>
              <c:strCache>
                <c:ptCount val="11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  <c:pt idx="8">
                  <c:v>17</c:v>
                </c:pt>
                <c:pt idx="9">
                  <c:v>19</c:v>
                </c:pt>
                <c:pt idx="10">
                  <c:v>21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55</c:v>
                </c:pt>
                <c:pt idx="1">
                  <c:v>160</c:v>
                </c:pt>
                <c:pt idx="2">
                  <c:v>120</c:v>
                </c:pt>
                <c:pt idx="3">
                  <c:v>75</c:v>
                </c:pt>
                <c:pt idx="4">
                  <c:v>50</c:v>
                </c:pt>
                <c:pt idx="5">
                  <c:v>35</c:v>
                </c:pt>
                <c:pt idx="6">
                  <c:v>22</c:v>
                </c:pt>
                <c:pt idx="7">
                  <c:v>15</c:v>
                </c:pt>
                <c:pt idx="8">
                  <c:v>9</c:v>
                </c:pt>
                <c:pt idx="9">
                  <c:v>5</c:v>
                </c:pt>
                <c:pt idx="10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3FB-41BE-BEA5-B3165E3D69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5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800"/>
            </a:pPr>
            <a:r>
              <a:rPr lang="en-IN"/>
              <a:t>Billing Amount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2067AE"/>
            </a:solidFill>
          </c:spPr>
          <c:invertIfNegative val="1"/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20k</c:v>
                </c:pt>
                <c:pt idx="2">
                  <c:v>40k</c:v>
                </c:pt>
                <c:pt idx="3">
                  <c:v>60k</c:v>
                </c:pt>
                <c:pt idx="4">
                  <c:v>80k</c:v>
                </c:pt>
                <c:pt idx="5">
                  <c:v>100k</c:v>
                </c:pt>
                <c:pt idx="6">
                  <c:v>120k</c:v>
                </c:pt>
                <c:pt idx="7">
                  <c:v>140k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135</c:v>
                </c:pt>
                <c:pt idx="1">
                  <c:v>105</c:v>
                </c:pt>
                <c:pt idx="2">
                  <c:v>82</c:v>
                </c:pt>
                <c:pt idx="3">
                  <c:v>62</c:v>
                </c:pt>
                <c:pt idx="4">
                  <c:v>45</c:v>
                </c:pt>
                <c:pt idx="5">
                  <c:v>30</c:v>
                </c:pt>
                <c:pt idx="6">
                  <c:v>18</c:v>
                </c:pt>
                <c:pt idx="7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D1C-4795-9382-0AB68BA115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5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800"/>
            </a:pPr>
            <a:r>
              <a:rPr lang="en-IN"/>
              <a:t>Age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2067AE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0–18</c:v>
                </c:pt>
                <c:pt idx="1">
                  <c:v>19–35</c:v>
                </c:pt>
                <c:pt idx="2">
                  <c:v>36–50</c:v>
                </c:pt>
                <c:pt idx="3">
                  <c:v>51–65</c:v>
                </c:pt>
                <c:pt idx="4">
                  <c:v>65+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34</c:v>
                </c:pt>
                <c:pt idx="2">
                  <c:v>28</c:v>
                </c:pt>
                <c:pt idx="3">
                  <c:v>20</c:v>
                </c:pt>
                <c:pt idx="4">
                  <c:v>13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C45-4F2C-9404-FDC15E3BE4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5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image" Target="../media/image2.jpe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00" cy="1874519"/>
          </a:xfrm>
          <a:prstGeom prst="rect">
            <a:avLst/>
          </a:prstGeom>
          <a:solidFill>
            <a:srgbClr val="123963"/>
          </a:solidFill>
          <a:ln w="12700">
            <a:solidFill>
              <a:srgbClr val="1239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61488" y="273030"/>
            <a:ext cx="7040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 i="0" dirty="0">
                <a:solidFill>
                  <a:srgbClr val="FFFFFF"/>
                </a:solidFill>
                <a:latin typeface="Aptos"/>
              </a:rPr>
              <a:t>DATA PREPARATION 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6215" y="596822"/>
            <a:ext cx="7589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 i="0" dirty="0">
                <a:solidFill>
                  <a:srgbClr val="FFFFFF"/>
                </a:solidFill>
                <a:latin typeface="Aptos"/>
              </a:rPr>
              <a:t>STATISTICAL ANALYSIS 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04872" y="979639"/>
            <a:ext cx="8138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 i="0" dirty="0">
                <a:solidFill>
                  <a:srgbClr val="FFFFFF"/>
                </a:solidFill>
                <a:latin typeface="Aptos"/>
              </a:rPr>
              <a:t>HOSPITAL PATIENT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186537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123963"/>
                </a:solidFill>
                <a:latin typeface="Aptos"/>
              </a:rPr>
              <a:t>HOSPITAL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039112"/>
            <a:ext cx="10149840" cy="612648"/>
          </a:xfrm>
          <a:prstGeom prst="roundRect">
            <a:avLst/>
          </a:prstGeom>
          <a:solidFill>
            <a:srgbClr val="F2F8FD"/>
          </a:solidFill>
          <a:ln w="12700">
            <a:solidFill>
              <a:srgbClr val="1485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2157984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23963"/>
                </a:solidFill>
                <a:latin typeface="Aptos"/>
              </a:rPr>
              <a:t>AIM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2112264"/>
            <a:ext cx="886968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91919"/>
                </a:solidFill>
                <a:latin typeface="Aptos"/>
              </a:rPr>
              <a:t>To prepare hospital patient data for analysis and apply statistical techniques to extract meaningful insights for better healthcare decision-making.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880360"/>
            <a:ext cx="4800600" cy="2743200"/>
          </a:xfrm>
          <a:prstGeom prst="roundRect">
            <a:avLst/>
          </a:prstGeom>
          <a:solidFill>
            <a:srgbClr val="F2F8FD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11480" y="2880360"/>
            <a:ext cx="4800600" cy="475488"/>
          </a:xfrm>
          <a:prstGeom prst="roundRect">
            <a:avLst/>
          </a:prstGeom>
          <a:solidFill>
            <a:srgbClr val="123963"/>
          </a:solidFill>
          <a:ln w="12700">
            <a:solidFill>
              <a:srgbClr val="1239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208" y="2935224"/>
            <a:ext cx="458114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01  DATASET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3502152"/>
            <a:ext cx="4297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23963"/>
                </a:solidFill>
                <a:latin typeface="Aptos"/>
              </a:rPr>
              <a:t>Source: Hospital Information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3776472"/>
            <a:ext cx="4297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91919"/>
                </a:solidFill>
                <a:latin typeface="Aptos"/>
              </a:rPr>
              <a:t>Records: 1,000 patient entries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4050791"/>
            <a:ext cx="4297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23963"/>
                </a:solidFill>
                <a:latin typeface="Aptos"/>
              </a:rPr>
              <a:t>Attributes: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315968"/>
            <a:ext cx="4343400" cy="114300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91919"/>
                </a:solidFill>
                <a:latin typeface="Aptos"/>
              </a:defRPr>
            </a:pPr>
            <a:r>
              <a:t>✓  Patient ID • Age • Gender • Department</a:t>
            </a:r>
          </a:p>
          <a:p>
            <a:pPr>
              <a:spcAft>
                <a:spcPts val="400"/>
              </a:spcAft>
              <a:defRPr sz="1000">
                <a:solidFill>
                  <a:srgbClr val="191919"/>
                </a:solidFill>
                <a:latin typeface="Aptos"/>
              </a:defRPr>
            </a:pPr>
            <a:r>
              <a:t>✓  Admission Type • Diagnosis</a:t>
            </a:r>
          </a:p>
          <a:p>
            <a:pPr>
              <a:spcAft>
                <a:spcPts val="400"/>
              </a:spcAft>
              <a:defRPr sz="1000">
                <a:solidFill>
                  <a:srgbClr val="191919"/>
                </a:solidFill>
                <a:latin typeface="Aptos"/>
              </a:defRPr>
            </a:pPr>
            <a:r>
              <a:t>✓  Length of Stay (days) • Billing Amount (₹)</a:t>
            </a:r>
          </a:p>
          <a:p>
            <a:pPr>
              <a:spcAft>
                <a:spcPts val="400"/>
              </a:spcAft>
              <a:defRPr sz="1000">
                <a:solidFill>
                  <a:srgbClr val="191919"/>
                </a:solidFill>
                <a:latin typeface="Aptos"/>
              </a:defRPr>
            </a:pPr>
            <a:r>
              <a:t>✓  Outcome (Discharged / Referred / Deceased)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40680" y="2880360"/>
            <a:ext cx="5120640" cy="2743200"/>
          </a:xfrm>
          <a:prstGeom prst="roundRect">
            <a:avLst/>
          </a:prstGeom>
          <a:solidFill>
            <a:srgbClr val="F2F8FD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440680" y="2880360"/>
            <a:ext cx="5120640" cy="475488"/>
          </a:xfrm>
          <a:prstGeom prst="roundRect">
            <a:avLst/>
          </a:prstGeom>
          <a:solidFill>
            <a:srgbClr val="2067AE"/>
          </a:solidFill>
          <a:ln w="12700">
            <a:solidFill>
              <a:srgbClr val="20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550408" y="2935224"/>
            <a:ext cx="4901183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02  DATA PREPARATION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50992" y="3502152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23963"/>
                </a:solidFill>
                <a:latin typeface="Aptos"/>
              </a:rPr>
              <a:t>Steps Performed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50992" y="3794760"/>
            <a:ext cx="2697480" cy="15544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191919"/>
                </a:solidFill>
                <a:latin typeface="Aptos"/>
              </a:defRPr>
            </a:pPr>
            <a:r>
              <a:t>✓  Data Collection</a:t>
            </a:r>
          </a:p>
          <a:p>
            <a:pPr>
              <a:spcAft>
                <a:spcPts val="400"/>
              </a:spcAft>
              <a:defRPr sz="900">
                <a:solidFill>
                  <a:srgbClr val="191919"/>
                </a:solidFill>
                <a:latin typeface="Aptos"/>
              </a:defRPr>
            </a:pPr>
            <a:r>
              <a:t>✓  Handling Missing Values</a:t>
            </a:r>
          </a:p>
          <a:p>
            <a:pPr>
              <a:spcAft>
                <a:spcPts val="400"/>
              </a:spcAft>
              <a:defRPr sz="900">
                <a:solidFill>
                  <a:srgbClr val="191919"/>
                </a:solidFill>
                <a:latin typeface="Aptos"/>
              </a:defRPr>
            </a:pPr>
            <a:r>
              <a:t>✓  Removing Duplicates</a:t>
            </a:r>
          </a:p>
          <a:p>
            <a:pPr>
              <a:spcAft>
                <a:spcPts val="400"/>
              </a:spcAft>
              <a:defRPr sz="900">
                <a:solidFill>
                  <a:srgbClr val="191919"/>
                </a:solidFill>
                <a:latin typeface="Aptos"/>
              </a:defRPr>
            </a:pPr>
            <a:r>
              <a:t>✓  Encoding Categorical Data</a:t>
            </a:r>
          </a:p>
          <a:p>
            <a:pPr>
              <a:spcAft>
                <a:spcPts val="400"/>
              </a:spcAft>
              <a:defRPr sz="900">
                <a:solidFill>
                  <a:srgbClr val="191919"/>
                </a:solidFill>
                <a:latin typeface="Aptos"/>
              </a:defRPr>
            </a:pPr>
            <a:r>
              <a:t>✓  Data Type Conversion</a:t>
            </a:r>
          </a:p>
          <a:p>
            <a:pPr>
              <a:spcAft>
                <a:spcPts val="400"/>
              </a:spcAft>
              <a:defRPr sz="900">
                <a:solidFill>
                  <a:srgbClr val="191919"/>
                </a:solidFill>
                <a:latin typeface="Aptos"/>
              </a:defRPr>
            </a:pPr>
            <a:r>
              <a:t>✓  Outlier Detection &amp; Treatment</a:t>
            </a:r>
          </a:p>
          <a:p>
            <a:pPr>
              <a:spcAft>
                <a:spcPts val="400"/>
              </a:spcAft>
              <a:defRPr sz="900">
                <a:solidFill>
                  <a:srgbClr val="191919"/>
                </a:solidFill>
                <a:latin typeface="Aptos"/>
              </a:defRPr>
            </a:pPr>
            <a:r>
              <a:t>✓  Data Normalization (where needed)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3502152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23963"/>
                </a:solidFill>
                <a:latin typeface="Aptos"/>
              </a:rPr>
              <a:t>Data Cleaning Summary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58200" y="3813048"/>
            <a:ext cx="148132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939528" y="3813048"/>
            <a:ext cx="438912" cy="393192"/>
          </a:xfrm>
          <a:prstGeom prst="rect">
            <a:avLst/>
          </a:prstGeom>
          <a:solidFill>
            <a:srgbClr val="F2F8FD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13064" y="384048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 i="0">
                <a:solidFill>
                  <a:srgbClr val="5A5A5A"/>
                </a:solidFill>
                <a:latin typeface="Aptos"/>
              </a:rPr>
              <a:t>Missing Values Handled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76104" y="3840480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123963"/>
                </a:solidFill>
                <a:latin typeface="Aptos"/>
              </a:rPr>
              <a:t>125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58200" y="4233672"/>
            <a:ext cx="148132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939528" y="4233672"/>
            <a:ext cx="438912" cy="393192"/>
          </a:xfrm>
          <a:prstGeom prst="rect">
            <a:avLst/>
          </a:prstGeom>
          <a:solidFill>
            <a:srgbClr val="F2F8FD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13064" y="4261104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 i="0">
                <a:solidFill>
                  <a:srgbClr val="5A5A5A"/>
                </a:solidFill>
                <a:latin typeface="Aptos"/>
              </a:rPr>
              <a:t>Duplicate Records Removed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4261104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123963"/>
                </a:solidFill>
                <a:latin typeface="Aptos"/>
              </a:rPr>
              <a:t>18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58200" y="4654296"/>
            <a:ext cx="148132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939528" y="4654296"/>
            <a:ext cx="438912" cy="393192"/>
          </a:xfrm>
          <a:prstGeom prst="rect">
            <a:avLst/>
          </a:prstGeom>
          <a:solidFill>
            <a:srgbClr val="F2F8FD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13064" y="4681728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 i="0">
                <a:solidFill>
                  <a:srgbClr val="5A5A5A"/>
                </a:solidFill>
                <a:latin typeface="Aptos"/>
              </a:rPr>
              <a:t>Outliers Treated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76104" y="4681728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123963"/>
                </a:solidFill>
                <a:latin typeface="Aptos"/>
              </a:rPr>
              <a:t>32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58200" y="5074920"/>
            <a:ext cx="148132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939528" y="5074920"/>
            <a:ext cx="438912" cy="393192"/>
          </a:xfrm>
          <a:prstGeom prst="rect">
            <a:avLst/>
          </a:prstGeom>
          <a:solidFill>
            <a:srgbClr val="F2F8FD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13064" y="5102352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 i="0">
                <a:solidFill>
                  <a:srgbClr val="5A5A5A"/>
                </a:solidFill>
                <a:latin typeface="Aptos"/>
              </a:rPr>
              <a:t>Final Clean Records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76104" y="5102352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123963"/>
                </a:solidFill>
                <a:latin typeface="Aptos"/>
              </a:rPr>
              <a:t>1,000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1480" y="5833872"/>
            <a:ext cx="4800600" cy="2907792"/>
          </a:xfrm>
          <a:prstGeom prst="roundRect">
            <a:avLst/>
          </a:prstGeom>
          <a:solidFill>
            <a:srgbClr val="F4FAF6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411480" y="5833872"/>
            <a:ext cx="4800600" cy="475488"/>
          </a:xfrm>
          <a:prstGeom prst="roundRect">
            <a:avLst/>
          </a:prstGeom>
          <a:solidFill>
            <a:srgbClr val="1B8F5B"/>
          </a:solidFill>
          <a:ln w="12700">
            <a:solidFill>
              <a:srgbClr val="1B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21208" y="5888736"/>
            <a:ext cx="458114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03  DESCRIPTIVE STATISTICS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6446520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8F5B"/>
                </a:solidFill>
                <a:latin typeface="Aptos"/>
              </a:rPr>
              <a:t>Parameter summary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" y="6784848"/>
            <a:ext cx="1170432" cy="393192"/>
          </a:xfrm>
          <a:prstGeom prst="rect">
            <a:avLst/>
          </a:prstGeom>
          <a:solidFill>
            <a:srgbClr val="EEF3F7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0936" y="6803136"/>
            <a:ext cx="1133856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 i="0">
                <a:solidFill>
                  <a:srgbClr val="191919"/>
                </a:solidFill>
                <a:latin typeface="Aptos"/>
              </a:rPr>
              <a:t>Parameter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83080" y="6784848"/>
            <a:ext cx="621792" cy="393192"/>
          </a:xfrm>
          <a:prstGeom prst="rect">
            <a:avLst/>
          </a:prstGeom>
          <a:solidFill>
            <a:srgbClr val="EEF3F7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801368" y="6803136"/>
            <a:ext cx="585216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 i="0">
                <a:solidFill>
                  <a:srgbClr val="191919"/>
                </a:solidFill>
                <a:latin typeface="Aptos"/>
              </a:rPr>
              <a:t>Mean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04872" y="6784848"/>
            <a:ext cx="713232" cy="393192"/>
          </a:xfrm>
          <a:prstGeom prst="rect">
            <a:avLst/>
          </a:prstGeom>
          <a:solidFill>
            <a:srgbClr val="EEF3F7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423160" y="6803136"/>
            <a:ext cx="676656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 i="0">
                <a:solidFill>
                  <a:srgbClr val="191919"/>
                </a:solidFill>
                <a:latin typeface="Aptos"/>
              </a:rPr>
              <a:t>Median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18104" y="6784848"/>
            <a:ext cx="868680" cy="393192"/>
          </a:xfrm>
          <a:prstGeom prst="rect">
            <a:avLst/>
          </a:prstGeom>
          <a:solidFill>
            <a:srgbClr val="EEF3F7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136392" y="6803136"/>
            <a:ext cx="832103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 i="0">
                <a:solidFill>
                  <a:srgbClr val="191919"/>
                </a:solidFill>
                <a:latin typeface="Aptos"/>
              </a:rPr>
              <a:t>Variance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986784" y="6784848"/>
            <a:ext cx="777240" cy="393192"/>
          </a:xfrm>
          <a:prstGeom prst="rect">
            <a:avLst/>
          </a:prstGeom>
          <a:solidFill>
            <a:srgbClr val="EEF3F7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005072" y="6803136"/>
            <a:ext cx="740664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 i="0">
                <a:solidFill>
                  <a:srgbClr val="191919"/>
                </a:solidFill>
                <a:latin typeface="Aptos"/>
              </a:rPr>
              <a:t>Std. Dev.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64024" y="6784848"/>
            <a:ext cx="530352" cy="393192"/>
          </a:xfrm>
          <a:prstGeom prst="rect">
            <a:avLst/>
          </a:prstGeom>
          <a:solidFill>
            <a:srgbClr val="EEF3F7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782312" y="6803136"/>
            <a:ext cx="493775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 i="0">
                <a:solidFill>
                  <a:srgbClr val="191919"/>
                </a:solidFill>
                <a:latin typeface="Aptos"/>
              </a:rPr>
              <a:t>Min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94376" y="6784848"/>
            <a:ext cx="530352" cy="393192"/>
          </a:xfrm>
          <a:prstGeom prst="rect">
            <a:avLst/>
          </a:prstGeom>
          <a:solidFill>
            <a:srgbClr val="EEF3F7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312664" y="6803136"/>
            <a:ext cx="493775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 i="0">
                <a:solidFill>
                  <a:srgbClr val="191919"/>
                </a:solidFill>
                <a:latin typeface="Aptos"/>
              </a:rPr>
              <a:t>Max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2648" y="7178040"/>
            <a:ext cx="1170432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30936" y="7196327"/>
            <a:ext cx="11338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191919"/>
                </a:solidFill>
                <a:latin typeface="Aptos"/>
              </a:rPr>
              <a:t>Age (Years)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83080" y="7178040"/>
            <a:ext cx="621792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801368" y="7196327"/>
            <a:ext cx="58521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191919"/>
                </a:solidFill>
                <a:latin typeface="Aptos"/>
              </a:rPr>
              <a:t>44.7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04872" y="7178040"/>
            <a:ext cx="713232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423160" y="7196327"/>
            <a:ext cx="6766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191919"/>
                </a:solidFill>
                <a:latin typeface="Aptos"/>
              </a:rPr>
              <a:t>45.0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118104" y="7178040"/>
            <a:ext cx="8686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136392" y="7196327"/>
            <a:ext cx="832103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191919"/>
                </a:solidFill>
                <a:latin typeface="Aptos"/>
              </a:rPr>
              <a:t>214.6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986784" y="7178040"/>
            <a:ext cx="77724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005072" y="7196327"/>
            <a:ext cx="74066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191919"/>
                </a:solidFill>
                <a:latin typeface="Aptos"/>
              </a:rPr>
              <a:t>14.6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764024" y="7178040"/>
            <a:ext cx="530352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782312" y="7196327"/>
            <a:ext cx="49377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191919"/>
                </a:solidFill>
                <a:latin typeface="Aptos"/>
              </a:rPr>
              <a:t>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294376" y="7178040"/>
            <a:ext cx="530352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312664" y="7196327"/>
            <a:ext cx="49377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191919"/>
                </a:solidFill>
                <a:latin typeface="Aptos"/>
              </a:rPr>
              <a:t>90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2648" y="7571231"/>
            <a:ext cx="1170432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30936" y="7589519"/>
            <a:ext cx="11338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191919"/>
                </a:solidFill>
                <a:latin typeface="Aptos"/>
              </a:rPr>
              <a:t>Length of Stay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783080" y="7571231"/>
            <a:ext cx="621792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801368" y="7589519"/>
            <a:ext cx="58521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191919"/>
                </a:solidFill>
                <a:latin typeface="Aptos"/>
              </a:rPr>
              <a:t>4.6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404872" y="7571231"/>
            <a:ext cx="713232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423160" y="7589519"/>
            <a:ext cx="6766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191919"/>
                </a:solidFill>
                <a:latin typeface="Aptos"/>
              </a:rPr>
              <a:t>4.0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118104" y="7571231"/>
            <a:ext cx="8686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136392" y="7589519"/>
            <a:ext cx="832103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191919"/>
                </a:solidFill>
                <a:latin typeface="Aptos"/>
              </a:rPr>
              <a:t>6.8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986784" y="7571231"/>
            <a:ext cx="77724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005072" y="7589519"/>
            <a:ext cx="74066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191919"/>
                </a:solidFill>
                <a:latin typeface="Aptos"/>
              </a:rPr>
              <a:t>2.6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764024" y="7571231"/>
            <a:ext cx="530352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782312" y="7589519"/>
            <a:ext cx="49377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191919"/>
                </a:solidFill>
                <a:latin typeface="Aptos"/>
              </a:rPr>
              <a:t>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294376" y="7571231"/>
            <a:ext cx="530352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312664" y="7589519"/>
            <a:ext cx="49377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191919"/>
                </a:solidFill>
                <a:latin typeface="Aptos"/>
              </a:rPr>
              <a:t>20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2648" y="7964424"/>
            <a:ext cx="1170432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30936" y="7982712"/>
            <a:ext cx="11338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191919"/>
                </a:solidFill>
                <a:latin typeface="Aptos"/>
              </a:rPr>
              <a:t>Billing Amount (₹)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783080" y="7964424"/>
            <a:ext cx="621792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801368" y="7982712"/>
            <a:ext cx="58521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191919"/>
                </a:solidFill>
                <a:latin typeface="Aptos"/>
              </a:rPr>
              <a:t>37,842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404872" y="7964424"/>
            <a:ext cx="713232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423160" y="7982712"/>
            <a:ext cx="6766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191919"/>
                </a:solidFill>
                <a:latin typeface="Aptos"/>
              </a:rPr>
              <a:t>28,500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118104" y="7964424"/>
            <a:ext cx="8686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3136392" y="7982712"/>
            <a:ext cx="832103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191919"/>
                </a:solidFill>
                <a:latin typeface="Aptos"/>
              </a:rPr>
              <a:t>5.62×10⁸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986784" y="7964424"/>
            <a:ext cx="77724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005072" y="7982712"/>
            <a:ext cx="74066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191919"/>
                </a:solidFill>
                <a:latin typeface="Aptos"/>
              </a:rPr>
              <a:t>23,713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764024" y="7964424"/>
            <a:ext cx="530352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782312" y="7982712"/>
            <a:ext cx="49377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191919"/>
                </a:solidFill>
                <a:latin typeface="Aptos"/>
              </a:rPr>
              <a:t>1,200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294376" y="7964424"/>
            <a:ext cx="530352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312664" y="7982712"/>
            <a:ext cx="49377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191919"/>
                </a:solidFill>
                <a:latin typeface="Aptos"/>
              </a:rPr>
              <a:t>1,50,000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1792" y="8321040"/>
            <a:ext cx="4297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123963"/>
                </a:solidFill>
                <a:latin typeface="Aptos"/>
              </a:rPr>
              <a:t>Gender: Male 560 | Female 440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21792" y="8540496"/>
            <a:ext cx="42976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Aptos"/>
              </a:rPr>
              <a:t>Admission: Emergency 62% | Elective 28% | Referral 10%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440680" y="5833872"/>
            <a:ext cx="5120640" cy="2907792"/>
          </a:xfrm>
          <a:prstGeom prst="roundRect">
            <a:avLst/>
          </a:prstGeom>
          <a:solidFill>
            <a:srgbClr val="F2F8FD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5440680" y="5833872"/>
            <a:ext cx="5120640" cy="475488"/>
          </a:xfrm>
          <a:prstGeom prst="roundRect">
            <a:avLst/>
          </a:prstGeom>
          <a:solidFill>
            <a:srgbClr val="2067AE"/>
          </a:solidFill>
          <a:ln w="12700">
            <a:solidFill>
              <a:srgbClr val="20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5550408" y="5888736"/>
            <a:ext cx="4901183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04  DATA DISTRIBUTION</a:t>
            </a:r>
          </a:p>
        </p:txBody>
      </p:sp>
      <p:graphicFrame>
        <p:nvGraphicFramePr>
          <p:cNvPr id="113" name="Chart 112"/>
          <p:cNvGraphicFramePr>
            <a:graphicFrameLocks noGrp="1"/>
          </p:cNvGraphicFramePr>
          <p:nvPr/>
        </p:nvGraphicFramePr>
        <p:xfrm>
          <a:off x="5596128" y="6419088"/>
          <a:ext cx="2331720" cy="960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4" name="Chart 113"/>
          <p:cNvGraphicFramePr>
            <a:graphicFrameLocks noGrp="1"/>
          </p:cNvGraphicFramePr>
          <p:nvPr/>
        </p:nvGraphicFramePr>
        <p:xfrm>
          <a:off x="8065008" y="6419088"/>
          <a:ext cx="2331720" cy="960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5" name="Chart 114"/>
          <p:cNvGraphicFramePr>
            <a:graphicFrameLocks noGrp="1"/>
          </p:cNvGraphicFramePr>
          <p:nvPr/>
        </p:nvGraphicFramePr>
        <p:xfrm>
          <a:off x="5596128" y="7498079"/>
          <a:ext cx="2331720" cy="960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6" name="Chart 115"/>
          <p:cNvGraphicFramePr>
            <a:graphicFrameLocks noGrp="1"/>
          </p:cNvGraphicFramePr>
          <p:nvPr/>
        </p:nvGraphicFramePr>
        <p:xfrm>
          <a:off x="8065008" y="7498079"/>
          <a:ext cx="2331720" cy="960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7" name="Rounded Rectangle 116"/>
          <p:cNvSpPr/>
          <p:nvPr/>
        </p:nvSpPr>
        <p:spPr>
          <a:xfrm>
            <a:off x="411480" y="8942832"/>
            <a:ext cx="4800600" cy="3154680"/>
          </a:xfrm>
          <a:prstGeom prst="roundRect">
            <a:avLst/>
          </a:prstGeom>
          <a:solidFill>
            <a:srgbClr val="F9F6FC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ounded Rectangle 117"/>
          <p:cNvSpPr/>
          <p:nvPr/>
        </p:nvSpPr>
        <p:spPr>
          <a:xfrm>
            <a:off x="411480" y="8942832"/>
            <a:ext cx="4800600" cy="475488"/>
          </a:xfrm>
          <a:prstGeom prst="roundRect">
            <a:avLst/>
          </a:prstGeom>
          <a:solidFill>
            <a:srgbClr val="6D3D97"/>
          </a:solidFill>
          <a:ln w="12700">
            <a:solidFill>
              <a:srgbClr val="6D3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521208" y="8997696"/>
            <a:ext cx="458114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05  CORRELATION ANALYSIS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1792" y="9537192"/>
            <a:ext cx="4343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6D3D97"/>
                </a:solidFill>
                <a:latin typeface="Aptos"/>
              </a:rPr>
              <a:t>Correlation Matrix (Pearson r)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68680" y="9619488"/>
            <a:ext cx="10789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 i="0">
                <a:solidFill>
                  <a:srgbClr val="5A5A5A"/>
                </a:solidFill>
                <a:latin typeface="Aptos"/>
              </a:rPr>
              <a:t>Age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947672" y="9619488"/>
            <a:ext cx="10789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 i="0">
                <a:solidFill>
                  <a:srgbClr val="5A5A5A"/>
                </a:solidFill>
                <a:latin typeface="Aptos"/>
              </a:rPr>
              <a:t>Length of Stay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026663" y="9619488"/>
            <a:ext cx="10789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 i="0">
                <a:solidFill>
                  <a:srgbClr val="5A5A5A"/>
                </a:solidFill>
                <a:latin typeface="Aptos"/>
              </a:rPr>
              <a:t>Billing Amount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12064" y="9930384"/>
            <a:ext cx="320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 i="0">
                <a:solidFill>
                  <a:srgbClr val="5A5A5A"/>
                </a:solidFill>
                <a:latin typeface="Aptos"/>
              </a:rPr>
              <a:t>Age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12064" y="10497311"/>
            <a:ext cx="320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 i="0">
                <a:solidFill>
                  <a:srgbClr val="5A5A5A"/>
                </a:solidFill>
                <a:latin typeface="Aptos"/>
              </a:rPr>
              <a:t>Length of Stay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12064" y="11064240"/>
            <a:ext cx="320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 i="0">
                <a:solidFill>
                  <a:srgbClr val="5A5A5A"/>
                </a:solidFill>
                <a:latin typeface="Aptos"/>
              </a:rPr>
              <a:t>Billing Amount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68680" y="9930384"/>
            <a:ext cx="1078992" cy="566928"/>
          </a:xfrm>
          <a:prstGeom prst="rect">
            <a:avLst/>
          </a:prstGeom>
          <a:solidFill>
            <a:srgbClr val="A5D0E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868680" y="9966959"/>
            <a:ext cx="10789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23963"/>
                </a:solidFill>
                <a:latin typeface="Aptos"/>
              </a:rPr>
              <a:t>1.00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947672" y="9930384"/>
            <a:ext cx="1078992" cy="566928"/>
          </a:xfrm>
          <a:prstGeom prst="rect">
            <a:avLst/>
          </a:prstGeom>
          <a:solidFill>
            <a:srgbClr val="CEE5F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947672" y="9966959"/>
            <a:ext cx="10789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23963"/>
                </a:solidFill>
                <a:latin typeface="Aptos"/>
              </a:rPr>
              <a:t>0.32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026663" y="9930384"/>
            <a:ext cx="1078992" cy="566928"/>
          </a:xfrm>
          <a:prstGeom prst="rect">
            <a:avLst/>
          </a:prstGeom>
          <a:solidFill>
            <a:srgbClr val="C9E2E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3026663" y="9966959"/>
            <a:ext cx="10789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23963"/>
                </a:solidFill>
                <a:latin typeface="Aptos"/>
              </a:rPr>
              <a:t>0.41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68680" y="10497311"/>
            <a:ext cx="1078992" cy="566928"/>
          </a:xfrm>
          <a:prstGeom prst="rect">
            <a:avLst/>
          </a:prstGeom>
          <a:solidFill>
            <a:srgbClr val="CEE5F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868680" y="10533887"/>
            <a:ext cx="10789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23963"/>
                </a:solidFill>
                <a:latin typeface="Aptos"/>
              </a:rPr>
              <a:t>0.32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947672" y="10497311"/>
            <a:ext cx="1078992" cy="566928"/>
          </a:xfrm>
          <a:prstGeom prst="rect">
            <a:avLst/>
          </a:prstGeom>
          <a:solidFill>
            <a:srgbClr val="A5D0E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1947672" y="10533887"/>
            <a:ext cx="10789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23963"/>
                </a:solidFill>
                <a:latin typeface="Aptos"/>
              </a:rPr>
              <a:t>1.00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026663" y="10497311"/>
            <a:ext cx="1078992" cy="566928"/>
          </a:xfrm>
          <a:prstGeom prst="rect">
            <a:avLst/>
          </a:prstGeom>
          <a:solidFill>
            <a:srgbClr val="C0DEE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3026663" y="10533887"/>
            <a:ext cx="10789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23963"/>
                </a:solidFill>
                <a:latin typeface="Aptos"/>
              </a:rPr>
              <a:t>0.56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68680" y="11064240"/>
            <a:ext cx="1078992" cy="566928"/>
          </a:xfrm>
          <a:prstGeom prst="rect">
            <a:avLst/>
          </a:prstGeom>
          <a:solidFill>
            <a:srgbClr val="C9E2E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868680" y="11100815"/>
            <a:ext cx="10789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23963"/>
                </a:solidFill>
                <a:latin typeface="Aptos"/>
              </a:rPr>
              <a:t>0.41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947672" y="11064240"/>
            <a:ext cx="1078992" cy="566928"/>
          </a:xfrm>
          <a:prstGeom prst="rect">
            <a:avLst/>
          </a:prstGeom>
          <a:solidFill>
            <a:srgbClr val="C0DEE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1947672" y="11100815"/>
            <a:ext cx="10789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23963"/>
                </a:solidFill>
                <a:latin typeface="Aptos"/>
              </a:rPr>
              <a:t>0.56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026663" y="11064240"/>
            <a:ext cx="1078992" cy="566928"/>
          </a:xfrm>
          <a:prstGeom prst="rect">
            <a:avLst/>
          </a:prstGeom>
          <a:solidFill>
            <a:srgbClr val="A5D0E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3026663" y="11100815"/>
            <a:ext cx="10789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23963"/>
                </a:solidFill>
                <a:latin typeface="Aptos"/>
              </a:rPr>
              <a:t>1.00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21792" y="11612880"/>
            <a:ext cx="4251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6D3D97"/>
                </a:solidFill>
                <a:latin typeface="Aptos"/>
              </a:rPr>
              <a:t>Key Relationships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58368" y="11850624"/>
            <a:ext cx="4297680" cy="201168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191919"/>
                </a:solidFill>
                <a:latin typeface="Aptos"/>
              </a:defRPr>
            </a:pPr>
            <a:r>
              <a:t>✓  Age ↔ Billing Amount: r = 0.41 (moderate positive)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58368" y="12070080"/>
            <a:ext cx="4297680" cy="201168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191919"/>
                </a:solidFill>
                <a:latin typeface="Aptos"/>
              </a:defRPr>
            </a:pPr>
            <a:r>
              <a:t>✓  Length of Stay ↔ Billing Amount: r = 0.56 (moderate positive)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58368" y="12289536"/>
            <a:ext cx="4297680" cy="201168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191919"/>
                </a:solidFill>
                <a:latin typeface="Aptos"/>
              </a:defRPr>
            </a:pPr>
            <a:r>
              <a:t>✓  Age ↔ Length of Stay: r = 0.32 (weak positive)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5440680" y="8942832"/>
            <a:ext cx="5120640" cy="3154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ounded Rectangle 149"/>
          <p:cNvSpPr/>
          <p:nvPr/>
        </p:nvSpPr>
        <p:spPr>
          <a:xfrm>
            <a:off x="5440680" y="8942832"/>
            <a:ext cx="5120640" cy="475488"/>
          </a:xfrm>
          <a:prstGeom prst="roundRect">
            <a:avLst/>
          </a:prstGeom>
          <a:solidFill>
            <a:srgbClr val="123963"/>
          </a:solidFill>
          <a:ln w="12700">
            <a:solidFill>
              <a:srgbClr val="1239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5550408" y="8997696"/>
            <a:ext cx="4901183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06  KEY FINDINGS</a:t>
            </a:r>
          </a:p>
        </p:txBody>
      </p:sp>
      <p:sp>
        <p:nvSpPr>
          <p:cNvPr id="152" name="Oval 151"/>
          <p:cNvSpPr/>
          <p:nvPr/>
        </p:nvSpPr>
        <p:spPr>
          <a:xfrm>
            <a:off x="5650992" y="9674352"/>
            <a:ext cx="164592" cy="164592"/>
          </a:xfrm>
          <a:prstGeom prst="ellipse">
            <a:avLst/>
          </a:prstGeom>
          <a:solidFill>
            <a:srgbClr val="2067AE"/>
          </a:solidFill>
          <a:ln>
            <a:solidFill>
              <a:srgbClr val="20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5925312" y="9646920"/>
            <a:ext cx="4343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91919"/>
                </a:solidFill>
                <a:latin typeface="Aptos"/>
              </a:rPr>
              <a:t>Most patients belong to the age group 19–50 years.</a:t>
            </a:r>
          </a:p>
        </p:txBody>
      </p:sp>
      <p:sp>
        <p:nvSpPr>
          <p:cNvPr id="154" name="Oval 153"/>
          <p:cNvSpPr/>
          <p:nvPr/>
        </p:nvSpPr>
        <p:spPr>
          <a:xfrm>
            <a:off x="5650992" y="10296144"/>
            <a:ext cx="164592" cy="164592"/>
          </a:xfrm>
          <a:prstGeom prst="ellipse">
            <a:avLst/>
          </a:prstGeom>
          <a:solidFill>
            <a:srgbClr val="2067AE"/>
          </a:solidFill>
          <a:ln>
            <a:solidFill>
              <a:srgbClr val="20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5925312" y="10268712"/>
            <a:ext cx="4343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91919"/>
                </a:solidFill>
                <a:latin typeface="Aptos"/>
              </a:rPr>
              <a:t>Average length of stay is 4.6 days.</a:t>
            </a:r>
          </a:p>
        </p:txBody>
      </p:sp>
      <p:sp>
        <p:nvSpPr>
          <p:cNvPr id="156" name="Oval 155"/>
          <p:cNvSpPr/>
          <p:nvPr/>
        </p:nvSpPr>
        <p:spPr>
          <a:xfrm>
            <a:off x="5650992" y="10917936"/>
            <a:ext cx="164592" cy="164592"/>
          </a:xfrm>
          <a:prstGeom prst="ellipse">
            <a:avLst/>
          </a:prstGeom>
          <a:solidFill>
            <a:srgbClr val="2067AE"/>
          </a:solidFill>
          <a:ln>
            <a:solidFill>
              <a:srgbClr val="20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5925312" y="10890504"/>
            <a:ext cx="4343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91919"/>
                </a:solidFill>
                <a:latin typeface="Aptos"/>
              </a:rPr>
              <a:t>Billing amount shows high variation with some high outliers.</a:t>
            </a:r>
          </a:p>
        </p:txBody>
      </p:sp>
      <p:sp>
        <p:nvSpPr>
          <p:cNvPr id="158" name="Oval 157"/>
          <p:cNvSpPr/>
          <p:nvPr/>
        </p:nvSpPr>
        <p:spPr>
          <a:xfrm>
            <a:off x="5650992" y="11539728"/>
            <a:ext cx="164592" cy="164592"/>
          </a:xfrm>
          <a:prstGeom prst="ellipse">
            <a:avLst/>
          </a:prstGeom>
          <a:solidFill>
            <a:srgbClr val="2067AE"/>
          </a:solidFill>
          <a:ln>
            <a:solidFill>
              <a:srgbClr val="20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5925312" y="11512296"/>
            <a:ext cx="4343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91919"/>
                </a:solidFill>
                <a:latin typeface="Aptos"/>
              </a:rPr>
              <a:t>Moderate positive relationships exist between key variables, helping in resource planning and cost management.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411480" y="12344400"/>
            <a:ext cx="6583680" cy="2240280"/>
          </a:xfrm>
          <a:prstGeom prst="roundRect">
            <a:avLst/>
          </a:prstGeom>
          <a:solidFill>
            <a:srgbClr val="F6FBFC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ounded Rectangle 160"/>
          <p:cNvSpPr/>
          <p:nvPr/>
        </p:nvSpPr>
        <p:spPr>
          <a:xfrm>
            <a:off x="411480" y="12344400"/>
            <a:ext cx="6583680" cy="475488"/>
          </a:xfrm>
          <a:prstGeom prst="roundRect">
            <a:avLst/>
          </a:prstGeom>
          <a:solidFill>
            <a:srgbClr val="148584"/>
          </a:solidFill>
          <a:ln w="12700">
            <a:solidFill>
              <a:srgbClr val="1485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521208" y="12399264"/>
            <a:ext cx="636422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07  CONCLUSION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58368" y="12938760"/>
            <a:ext cx="608076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91919"/>
                </a:solidFill>
                <a:latin typeface="Aptos"/>
              </a:rPr>
              <a:t>Proper data preparation ensures data quality and reliability. Statistical analysis of hospital patient records reveals important patterns and relationships that support better decision-making, improve patient care, and optimize hospital resources.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7150608" y="12344400"/>
            <a:ext cx="3410712" cy="22402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ounded Rectangle 164"/>
          <p:cNvSpPr/>
          <p:nvPr/>
        </p:nvSpPr>
        <p:spPr>
          <a:xfrm>
            <a:off x="7150608" y="12344400"/>
            <a:ext cx="3410712" cy="475488"/>
          </a:xfrm>
          <a:prstGeom prst="roundRect">
            <a:avLst/>
          </a:prstGeom>
          <a:solidFill>
            <a:srgbClr val="123963"/>
          </a:solidFill>
          <a:ln w="12700">
            <a:solidFill>
              <a:srgbClr val="1239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7260336" y="12399264"/>
            <a:ext cx="31912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TOOLS &amp; DETAILS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388352" y="12911328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23963"/>
                </a:solidFill>
                <a:latin typeface="Aptos"/>
              </a:rPr>
              <a:t>Python  |  Pandas  |  NumPy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388352" y="13240512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Aptos"/>
              </a:rPr>
              <a:t>Matplotlib  |  Seaborn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388352" y="13670280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123963"/>
                </a:solidFill>
                <a:latin typeface="Aptos"/>
              </a:rPr>
              <a:t>Name: V.P Sneha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388352" y="13972032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Aptos"/>
              </a:rPr>
              <a:t>Regno: 192324284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388352" y="14264640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Aptos"/>
              </a:rPr>
              <a:t>DSA0405 | Dr Krishnaraj Mony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-1685153" y="14653260"/>
            <a:ext cx="9875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 dirty="0">
                <a:solidFill>
                  <a:srgbClr val="123963"/>
                </a:solidFill>
                <a:latin typeface="Aptos"/>
              </a:rPr>
              <a:t>HOSPITAL PATIENT RECORDS  •  DATA PREPARATION  •  STATISTICAL ANALYSIS</a:t>
            </a:r>
          </a:p>
        </p:txBody>
      </p:sp>
      <p:pic>
        <p:nvPicPr>
          <p:cNvPr id="175" name="Google Shape;89;g3bc64e9295e_8_40">
            <a:extLst>
              <a:ext uri="{FF2B5EF4-FFF2-40B4-BE49-F238E27FC236}">
                <a16:creationId xmlns:a16="http://schemas.microsoft.com/office/drawing/2014/main" id="{E0D05A3E-868D-D6D6-707C-2D897C6C7FDF}"/>
              </a:ext>
            </a:extLst>
          </p:cNvPr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350666" y="344908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90;g3bc64e9295e_8_40">
            <a:extLst>
              <a:ext uri="{FF2B5EF4-FFF2-40B4-BE49-F238E27FC236}">
                <a16:creationId xmlns:a16="http://schemas.microsoft.com/office/drawing/2014/main" id="{C88B4ADE-5E9D-FA46-160C-21CE5B282F62}"/>
              </a:ext>
            </a:extLst>
          </p:cNvPr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9355149" y="273030"/>
            <a:ext cx="1439225" cy="130120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TextBox 177">
            <a:extLst>
              <a:ext uri="{FF2B5EF4-FFF2-40B4-BE49-F238E27FC236}">
                <a16:creationId xmlns:a16="http://schemas.microsoft.com/office/drawing/2014/main" id="{68C1EB9D-4C7A-4DE6-6EF6-82EF388920F0}"/>
              </a:ext>
            </a:extLst>
          </p:cNvPr>
          <p:cNvSpPr txBox="1"/>
          <p:nvPr/>
        </p:nvSpPr>
        <p:spPr>
          <a:xfrm>
            <a:off x="6173528" y="15720536"/>
            <a:ext cx="43498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Arial"/>
              </a:rPr>
              <a:t>Course: DSA0405    Faculty | Dr Krishnaraj Mony</a:t>
            </a:r>
          </a:p>
          <a:p>
            <a:endParaRPr lang="en-IN" sz="1400" b="1" dirty="0">
              <a:solidFill>
                <a:schemeClr val="accent6">
                  <a:lumMod val="50000"/>
                </a:schemeClr>
              </a:solidFill>
              <a:latin typeface="Arial"/>
            </a:endParaRPr>
          </a:p>
          <a:p>
            <a:endParaRPr lang="en-IN" sz="1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15A80-289E-D196-5FE0-63ACEC05A1A5}"/>
              </a:ext>
            </a:extLst>
          </p:cNvPr>
          <p:cNvSpPr txBox="1"/>
          <p:nvPr/>
        </p:nvSpPr>
        <p:spPr>
          <a:xfrm>
            <a:off x="6173528" y="15341061"/>
            <a:ext cx="68617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Arial"/>
              </a:rPr>
              <a:t>Name: V.P Sneha     Regno: 192324284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422</Words>
  <Application>Microsoft Office PowerPoint</Application>
  <PresentationFormat>Custom</PresentationFormat>
  <Paragraphs>106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sneha prasad</cp:lastModifiedBy>
  <cp:revision>2</cp:revision>
  <dcterms:created xsi:type="dcterms:W3CDTF">2013-01-27T09:14:16Z</dcterms:created>
  <dcterms:modified xsi:type="dcterms:W3CDTF">2026-08-20T03:51:58Z</dcterms:modified>
  <cp:category/>
</cp:coreProperties>
</file>